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Welcome students and introduce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feature box. Emphasise that the whole program fits in 20 lines, yet covers the core of interactive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Python concepts the student will have working knowledge of by the end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two approaches side by side. The left is what most beginners write first. The right is what we're aiming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IPO is the universal model for all programs. Map each phase to a concrete line of Python in the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flowchart step by step. Score accumulates but is never reset inside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motivating problem for sanitization. Real users don't type precisely — your program must handle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matters: strip first, then lower. Both are chained on one line. This pattern repeats for every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== tests value equality. Don't introduce 'is' yet — it's a distraction at this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score lives OUTSIDE the loop so it survives across iterations. If it were inside, it would reset to 0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matrix gives students a reference card. .strip().lower() covers 99% of English-language input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indentation — Python uses 4 spaces to define which code belongs to which branch. Missing indentation is the #1 syntax error beginners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pattern is the bridge to functions. Once students see steps 1-6 repeat identically, they naturally ask 'can we write this once?' — that's the function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mistake: students write {} without the f prefix. The string looks right but variables are never substituted.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Complete, runnable script — 18 lines. Students should type this out, not copy-paste, to build muscle memory. Test in IDLE or the terminal before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input() ALWAYS returns a string — no TypeError risk. The only edge case worth handling at this level is empty string. Don't over-engineer with try/except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bugs account for ~80% of student errors. Spend extra time on 'score inside the loop' — it's the most confusing because the code looks almost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Connecting the homework to real products they use every day creates genuine engagement and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01 is achievable in 5 minutes. Exercise 02 requires while loops. Exercise 03 introduces nested if — suitable as home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slide. Summarise the six core skills. Set expectations for Project 5 — functions and dictionaries — so students know where today's knowledge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1554480"/>
            <a:ext cx="8869680" cy="1463040"/>
          </a:xfrm>
          <a:prstGeom prst="roundRect">
            <a:avLst>
              <a:gd name="adj" fmla="val 7500"/>
            </a:avLst>
          </a:prstGeom>
          <a:solidFill>
            <a:srgbClr val="131929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737360" y="16459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Programming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737360" y="226771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Training Kit — Project 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5760720" cy="749808"/>
          </a:xfrm>
          <a:prstGeom prst="roundRect">
            <a:avLst>
              <a:gd name="adj" fmla="val 14634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340156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5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General Knowledge Quiz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 ·  Batch 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52120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/>
        </p:spPr>
      </p:sp>
      <p:sp>
        <p:nvSpPr>
          <p:cNvPr id="10" name="Text 8"/>
          <p:cNvSpPr/>
          <p:nvPr/>
        </p:nvSpPr>
        <p:spPr>
          <a:xfrm>
            <a:off x="3236976" y="524865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&amp; Input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52120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5157216" y="524865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52120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77456" y="524865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Tracking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05B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You'll Build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11274552" cy="960120"/>
          </a:xfrm>
          <a:prstGeom prst="roundRect">
            <a:avLst>
              <a:gd name="adj" fmla="val 11429"/>
            </a:avLst>
          </a:prstGeom>
          <a:solidFill>
            <a:srgbClr val="131929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34440"/>
            <a:ext cx="10817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3-question General Knowledge quiz that accepts user input, sanitizes it, checks answers, and outputs a final score — all in under 20 lines of Python.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45059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GK Questions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Capital, Planet, Language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70832" y="23317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70832" y="245059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🧹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62272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Sanitization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62272" y="34381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strip() + lower()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84464" y="23317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84464" y="245059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75904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Score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75904" y="34381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Printed with f-string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logic powers every online quiz, form validator, and authentication check you've ever used.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6080760"/>
            <a:ext cx="11274552" cy="438912"/>
          </a:xfrm>
          <a:prstGeom prst="roundRect">
            <a:avLst>
              <a:gd name="adj" fmla="val 16667"/>
            </a:avLst>
          </a:prstGeom>
          <a:solidFill>
            <a:srgbClr val="16213E">
              <a:alpha val="80000"/>
            </a:srgbClr>
          </a:solidFill>
          <a:ln w="10160">
            <a:solidFill>
              <a:srgbClr val="A05B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135624"/>
            <a:ext cx="10872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Think of this as the skeleton key for all interactive programs — once you build one quiz, you understand every quiz.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26464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463040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353312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and update quiz state (score, answers)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170432"/>
            <a:ext cx="5330952" cy="804672"/>
          </a:xfrm>
          <a:prstGeom prst="roundRect">
            <a:avLst>
              <a:gd name="adj" fmla="val 13636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426464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6547104" y="1463040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92440" y="1353312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user responses from the terminal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2414016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450592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340864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questions, results, and final score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2157984"/>
            <a:ext cx="5330952" cy="804672"/>
          </a:xfrm>
          <a:prstGeom prst="roundRect">
            <a:avLst>
              <a:gd name="adj" fmla="val 13636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0528" y="2414016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47104" y="2450592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2440" y="2340864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.strip() + .lower() to normalise raw input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145536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340156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43814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/ else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48840" y="3328416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on correct vs. wrong answer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3145536"/>
            <a:ext cx="5330952" cy="804672"/>
          </a:xfrm>
          <a:prstGeom prst="roundRect">
            <a:avLst>
              <a:gd name="adj" fmla="val 13636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10528" y="340156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5B8C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47104" y="343814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operator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2440" y="3328416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cleaned input to stored answer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133088"/>
            <a:ext cx="11274552" cy="804672"/>
          </a:xfrm>
          <a:prstGeom prst="roundRect">
            <a:avLst>
              <a:gd name="adj" fmla="val 13636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43891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A05BFF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" y="442569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State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48840" y="4315968"/>
            <a:ext cx="9473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Accumulate score across multiple iterations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Static Script to Decision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Hardcoded 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09344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print("What is the capital of France?")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print("Answer: paris")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print("Correct!")   # always correct!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578608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 the program can never tell if the user is right or wrong. It just prints a pre-determined result.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33872" y="2148840"/>
            <a:ext cx="658368" cy="457200"/>
          </a:xfrm>
          <a:prstGeom prst="rightArrow">
            <a:avLst/>
          </a:prstGeom>
          <a:solidFill>
            <a:srgbClr val="5B8CFF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14300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12344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Decision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48272" y="1609344"/>
            <a:ext cx="4828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input("Capital of France? 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answer.strip().lower() == "paris":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print("Correct!")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print("Wrong!")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257860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the program evaluates the user's actual response and branches based on correctness.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 from print-only scripts to interactive, branching programs is the single most important step in learning Python.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080760"/>
            <a:ext cx="11274552" cy="438912"/>
          </a:xfrm>
          <a:prstGeom prst="roundRect">
            <a:avLst>
              <a:gd name="adj" fmla="val 16667"/>
            </a:avLst>
          </a:prstGeom>
          <a:solidFill>
            <a:srgbClr val="16213E">
              <a:alpha val="80000"/>
            </a:srgbClr>
          </a:solidFill>
          <a:ln w="10160">
            <a:solidFill>
              <a:srgbClr val="A05B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6135624"/>
            <a:ext cx="10872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A thermostat that always prints '22 C' is useless. One that reads the room and reacts — that's engineering.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IPO Architecture: Input — Process — Output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3246120" cy="2103120"/>
          </a:xfrm>
          <a:prstGeom prst="roundRect">
            <a:avLst>
              <a:gd name="adj" fmla="val 5217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81328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1993392"/>
            <a:ext cx="2697480" cy="16459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66544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input(question)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types answer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44568" y="1371600"/>
            <a:ext cx="3246120" cy="2103120"/>
          </a:xfrm>
          <a:prstGeom prst="roundRect">
            <a:avLst>
              <a:gd name="adj" fmla="val 5217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36008" y="1481328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05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18888" y="1993392"/>
            <a:ext cx="2697480" cy="16459"/>
          </a:xfrm>
          <a:prstGeom prst="rect">
            <a:avLst/>
          </a:prstGeom>
          <a:solidFill>
            <a:srgbClr val="A05BFF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2066544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.strip().lower()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cleaned == answer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77072" y="1371600"/>
            <a:ext cx="3246120" cy="2103120"/>
          </a:xfrm>
          <a:prstGeom prst="roundRect">
            <a:avLst>
              <a:gd name="adj" fmla="val 5217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68512" y="1481328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851392" y="1993392"/>
            <a:ext cx="2697480" cy="16459"/>
          </a:xfrm>
          <a:prstGeom prst="rect">
            <a:avLst/>
          </a:prstGeom>
          <a:solidFill>
            <a:srgbClr val="34D399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68512" y="2066544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print("Correct!")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print(f"Score: {score}")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95344" y="2121408"/>
            <a:ext cx="502920" cy="384048"/>
          </a:xfrm>
          <a:prstGeom prst="rightArrow">
            <a:avLst/>
          </a:prstGeom>
          <a:solidFill>
            <a:srgbClr val="5B8C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927848" y="2121408"/>
            <a:ext cx="502920" cy="384048"/>
          </a:xfrm>
          <a:prstGeom prst="rightArrow">
            <a:avLst/>
          </a:prstGeom>
          <a:solidFill>
            <a:srgbClr val="5B8C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749040"/>
            <a:ext cx="11274552" cy="1417320"/>
          </a:xfrm>
          <a:prstGeom prst="roundRect">
            <a:avLst>
              <a:gd name="adj" fmla="val 7742"/>
            </a:avLst>
          </a:prstGeom>
          <a:solidFill>
            <a:srgbClr val="131929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822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 Mapping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4206240"/>
            <a:ext cx="9857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types 'PARIS' or ' paris ' in terminal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498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4498848"/>
            <a:ext cx="9857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Sanitize to 'paris', compare to stored answer 'paris'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791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91640" y="4791456"/>
            <a:ext cx="9857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'Correct!' and increment score by 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Flow Overview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1A1E2E">
              <a:alpha val="80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1709928"/>
            <a:ext cx="0" cy="39319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1A1E2E">
              <a:alpha val="80000"/>
            </a:srgbClr>
          </a:solidFill>
          <a:ln w="1905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659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2441448"/>
            <a:ext cx="0" cy="39319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0604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1A1E2E">
              <a:alpha val="80000"/>
            </a:srgbClr>
          </a:solidFill>
          <a:ln w="19050">
            <a:solidFill>
              <a:srgbClr val="A05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974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question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3172968"/>
            <a:ext cx="0" cy="39319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3756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1A1E2E">
              <a:alpha val="80000"/>
            </a:srgbClr>
          </a:solidFill>
          <a:ln w="19050">
            <a:solidFill>
              <a:srgbClr val="5B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290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question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94560" y="3904488"/>
            <a:ext cx="0" cy="39319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6908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1A1E2E">
              <a:alpha val="80000"/>
            </a:srgbClr>
          </a:solidFill>
          <a:ln w="19050">
            <a:solidFill>
              <a:srgbClr val="5B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605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 input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94560" y="4636008"/>
            <a:ext cx="0" cy="39319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80060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1A1E2E">
              <a:alpha val="8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92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cleaned == answer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94560" y="5367528"/>
            <a:ext cx="0" cy="39319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53212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1A1E2E">
              <a:alpha val="80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623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06240" y="4645152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15968" y="4709160"/>
            <a:ext cx="3072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(Correct)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15968" y="5029200"/>
            <a:ext cx="3072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print("Correct!") + score += 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18120" y="4645152"/>
            <a:ext cx="3913632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27848" y="4709160"/>
            <a:ext cx="3694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(Wrong)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27848" y="5029200"/>
            <a:ext cx="3694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print(f"Wrong. Answer: '{answer}'")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194560" y="5093208"/>
            <a:ext cx="201168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5093208"/>
            <a:ext cx="562356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5715000"/>
            <a:ext cx="7525512" cy="566928"/>
          </a:xfrm>
          <a:prstGeom prst="roundRect">
            <a:avLst>
              <a:gd name="adj" fmla="val 19355"/>
            </a:avLst>
          </a:prstGeom>
          <a:solidFill>
            <a:srgbClr val="131929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343400" y="5806440"/>
            <a:ext cx="7251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loop: print(f"Final score: {score}/{len(questions)}")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Chaos: Why Naive == Fails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1556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answer: "paris"   |   Comparison: user_input == "paris"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559552" cy="1389888"/>
          </a:xfrm>
          <a:prstGeom prst="roundRect">
            <a:avLst>
              <a:gd name="adj" fmla="val 789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556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0" y="1755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 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5285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Capital P — different character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7648" y="1645920"/>
            <a:ext cx="5559552" cy="1389888"/>
          </a:xfrm>
          <a:prstGeom prst="roundRect">
            <a:avLst>
              <a:gd name="adj" fmla="val 789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4808" y="17556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paris "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985248" y="1755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 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4808" y="2240280"/>
            <a:ext cx="5285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+ trailing spaces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5559552" cy="1389888"/>
          </a:xfrm>
          <a:prstGeom prst="roundRect">
            <a:avLst>
              <a:gd name="adj" fmla="val 789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355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 "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14800" y="33558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 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5285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All-caps + trailing space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7648" y="3246120"/>
            <a:ext cx="5559552" cy="1389888"/>
          </a:xfrm>
          <a:prstGeom prst="roundRect">
            <a:avLst>
              <a:gd name="adj" fmla="val 789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64808" y="3355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985248" y="33558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 OK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64808" y="3840480"/>
            <a:ext cx="5285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match — only this passes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080760"/>
            <a:ext cx="11274552" cy="438912"/>
          </a:xfrm>
          <a:prstGeom prst="roundRect">
            <a:avLst>
              <a:gd name="adj" fmla="val 16667"/>
            </a:avLst>
          </a:prstGeom>
          <a:solidFill>
            <a:srgbClr val="16213E">
              <a:alpha val="80000"/>
            </a:srgbClr>
          </a:solidFill>
          <a:ln w="10160">
            <a:solidFill>
              <a:srgbClr val="A05B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6135624"/>
            <a:ext cx="10872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A vending machine that only accepts exactly '1.00' rejects the same dollar if it enters slightly crooked. That's your naive == check.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Sanitization Pipeline: .strip() then .lower()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1170432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82112" y="1335024"/>
            <a:ext cx="3419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PARIS 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13350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Straight from input()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0" y="1993392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21992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1343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.strip()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63240" y="2221992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82112" y="2386584"/>
            <a:ext cx="3419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238658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leading/trailing whitespace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45920" y="3044952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73552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3649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.lower()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63240" y="3273552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82112" y="3438144"/>
            <a:ext cx="3419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343814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Converts all chars to lowercase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645920" y="4096512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25112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4165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answer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063240" y="4325112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82112" y="4489704"/>
            <a:ext cx="3419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 == "paris"  -&gt;  True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44897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Safe, reliable comparison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7772400" cy="749808"/>
          </a:xfrm>
          <a:prstGeom prst="roundRect">
            <a:avLst>
              <a:gd name="adj" fmla="val 14634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" y="5303520"/>
            <a:ext cx="74432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 = user_input.strip().lower()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cleaned == answer: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080760"/>
            <a:ext cx="11274552" cy="438912"/>
          </a:xfrm>
          <a:prstGeom prst="roundRect">
            <a:avLst>
              <a:gd name="adj" fmla="val 16667"/>
            </a:avLst>
          </a:prstGeom>
          <a:solidFill>
            <a:srgbClr val="16213E">
              <a:alpha val="80000"/>
            </a:srgbClr>
          </a:solidFill>
          <a:ln w="10160">
            <a:solidFill>
              <a:srgbClr val="A05B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6135624"/>
            <a:ext cx="10872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strip() removes the wrapper; lower() puts everyone in the same uniform before comparison.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Operators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61872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89888" y="12618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 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66160" y="1170432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1316736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 == "paris"  -&gt;  True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66544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157984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89888" y="215798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equal 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66160" y="2066544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2212848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 != "london"  -&gt;  True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3054096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89888" y="305409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than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566160" y="2962656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03320" y="3108960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&gt; 0   -&gt;  True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" y="3950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0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89888" y="3950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than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566160" y="385876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03320" y="4005072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&lt; 3   -&gt;  True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" y="4846320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89888" y="4846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than or equal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566160" y="475488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03320" y="4901184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&gt;= 2  -&gt;  True (pass threshold)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623560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== operator is the workhorse of this project. Every correct-answer check is a string equality comparison on sanitized input.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Management — The Score Vault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80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31673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1764792"/>
            <a:ext cx="3008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the loop. Set once.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70832" y="1170432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7992" y="1280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131673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07992" y="1691640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764792"/>
            <a:ext cx="3008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+= 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07992" y="24231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the loop, on correct.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84464" y="1170432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21624" y="1280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131673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21624" y="1691640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40496" y="1764792"/>
            <a:ext cx="3008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f"{score}/3"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21624" y="24231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loop. Final output.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11274552" cy="1691640"/>
          </a:xfrm>
          <a:prstGeom prst="roundRect">
            <a:avLst>
              <a:gd name="adj" fmla="val 6486"/>
            </a:avLst>
          </a:prstGeom>
          <a:solidFill>
            <a:srgbClr val="131929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822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trace across 3 iterations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4206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4206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680" y="4206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after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4572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Capital of France?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26480" y="4572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9680" y="4572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864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4864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Largest planet?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0" y="4864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9680" y="4864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51572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83280" y="51572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named snake?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26480" y="51572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869680" y="51572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 Matrix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1920240" cy="457200"/>
          </a:xfrm>
          <a:prstGeom prst="roundRect">
            <a:avLst>
              <a:gd name="adj" fmla="val 24000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97864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170432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19786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removes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170432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1197864"/>
            <a:ext cx="3730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in -&gt; out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0" y="1170432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18320" y="1197864"/>
            <a:ext cx="2907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in this project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55648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1801368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.strip()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60320" y="1755648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51760" y="1801368"/>
            <a:ext cx="24505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Leading &amp; trailing whitespace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1755648"/>
            <a:ext cx="384048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801368"/>
            <a:ext cx="3730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 PARIS "  -&gt;  "PARIS"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26880" y="1755648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18320" y="1801368"/>
            <a:ext cx="2907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— user input has invisible spaces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761488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807208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.lower()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560320" y="2761488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51760" y="2807208"/>
            <a:ext cx="24505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Mixed-case differences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2761488"/>
            <a:ext cx="384048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94960" y="2807208"/>
            <a:ext cx="3730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"PARIS"  -&gt;  "paris"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26880" y="2761488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18320" y="2807208"/>
            <a:ext cx="2907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— answers stored in lowercase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813048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.casefold()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560320" y="3767328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51760" y="3813048"/>
            <a:ext cx="24505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 Unicode cases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03520" y="3767328"/>
            <a:ext cx="384048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94960" y="3813048"/>
            <a:ext cx="3730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"ss"  for German sz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26880" y="3767328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18320" y="3813048"/>
            <a:ext cx="2907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— for international input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this project, .strip().lower() is sufficient. .casefold() is a good extension exercise for advanced students.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200" y="6080760"/>
            <a:ext cx="11274552" cy="438912"/>
          </a:xfrm>
          <a:prstGeom prst="roundRect">
            <a:avLst>
              <a:gd name="adj" fmla="val 16667"/>
            </a:avLst>
          </a:prstGeom>
          <a:solidFill>
            <a:srgbClr val="16213E">
              <a:alpha val="80000"/>
            </a:srgbClr>
          </a:solidFill>
          <a:ln w="10160">
            <a:solidFill>
              <a:srgbClr val="A05BFF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6135624"/>
            <a:ext cx="10872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strip() sweeps the doorstep; lower() makes everyone wear the same uniform before the check.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Gate: if / else Branching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6858000" cy="2926080"/>
          </a:xfrm>
          <a:prstGeom prst="roundRect">
            <a:avLst>
              <a:gd name="adj" fmla="val 3750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29844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cleaned == answer: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166420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print("Correct!")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+=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39572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276148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print(f"Wrong. The correct answer was '{answer}'.")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06640" y="1389888"/>
            <a:ext cx="457200" cy="0"/>
          </a:xfrm>
          <a:prstGeom prst="line">
            <a:avLst/>
          </a:prstGeom>
          <a:noFill/>
          <a:ln w="1016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Condition: equality check on sanitized string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457200" cy="0"/>
          </a:xfrm>
          <a:prstGeom prst="line">
            <a:avLst/>
          </a:prstGeom>
          <a:noFill/>
          <a:ln w="1016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1719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branch: reward correct answer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2578608"/>
            <a:ext cx="457200" cy="0"/>
          </a:xfrm>
          <a:prstGeom prst="line">
            <a:avLst/>
          </a:prstGeom>
          <a:noFill/>
          <a:ln w="1016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6992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branch: inform of correct answer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if block runs only when the condition is True. The else block handles every other case. Together they form a complete decision with no gaps.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080760"/>
            <a:ext cx="11274552" cy="438912"/>
          </a:xfrm>
          <a:prstGeom prst="roundRect">
            <a:avLst>
              <a:gd name="adj" fmla="val 16667"/>
            </a:avLst>
          </a:prstGeom>
          <a:solidFill>
            <a:srgbClr val="16213E">
              <a:alpha val="80000"/>
            </a:srgbClr>
          </a:solidFill>
          <a:ln w="10160">
            <a:solidFill>
              <a:srgbClr val="A05B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6135624"/>
            <a:ext cx="10872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A traffic light either shows green (go) or not. if/else enforces the same binary certainty in your code.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 Block Pattern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80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31673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the question to terminal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170432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280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31673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CAPTURE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07992" y="1700784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 = input(question + ' ')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84464" y="1170432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1280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31673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SANITIZE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21624" y="1700784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 = user_input.strip().lower()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62072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9718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" y="300837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392424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cleaned == answer: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70832" y="2862072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07992" y="29718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544568" y="300837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EXECUTE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07992" y="3392424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print("Correct!") or print("Wrong")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84464" y="2862072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21624" y="29718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300837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UPDATE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21624" y="3392424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+= 1  (only on correct)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question in the quiz follows this exact six-step pattern. Extract it into a function and you have a reusable quiz engine.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6080760"/>
            <a:ext cx="11274552" cy="438912"/>
          </a:xfrm>
          <a:prstGeom prst="roundRect">
            <a:avLst>
              <a:gd name="adj" fmla="val 16667"/>
            </a:avLst>
          </a:prstGeom>
          <a:solidFill>
            <a:srgbClr val="16213E">
              <a:alpha val="80000"/>
            </a:srgbClr>
          </a:solidFill>
          <a:ln w="10160">
            <a:solidFill>
              <a:srgbClr val="A05B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6135624"/>
            <a:ext cx="10872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Like a recipe card — same steps, different ingredients (questions). The pattern doesn't change; only the data does.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SYNTAX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f-strings: Clean String Formatting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5303520" cy="2148840"/>
          </a:xfrm>
          <a:prstGeom prst="roundRect">
            <a:avLst>
              <a:gd name="adj" fmla="val 5106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435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  String Concatenation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"Score: " + str(score) + "/" + str(len(questions))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manual str() conversion; hard to read; breaks easily.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066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TypeError if you forget str()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53328" y="1170432"/>
            <a:ext cx="5669280" cy="2148840"/>
          </a:xfrm>
          <a:prstGeom prst="roundRect">
            <a:avLst>
              <a:gd name="adj" fmla="val 5106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24358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  f-string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90488" y="162763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f"Score: {score}/{len(questions)}"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0488" y="21031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embedded directly. Auto-converts to string. Reads like plain English.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0488" y="270662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Always works — Python handles types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11274552" cy="914400"/>
          </a:xfrm>
          <a:prstGeom prst="roundRect">
            <a:avLst>
              <a:gd name="adj" fmla="val 12000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630168"/>
            <a:ext cx="10945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print(f"\nFinal score: {score}/{len(questions)}")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print(f"Wrong. The correct answer was '{answer}'.")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f-strings (formatted string literals) are the modern Python way to embed variables in text. Introduced in Python 3.6 — now the standard.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080760"/>
            <a:ext cx="11274552" cy="438912"/>
          </a:xfrm>
          <a:prstGeom prst="roundRect">
            <a:avLst>
              <a:gd name="adj" fmla="val 16667"/>
            </a:avLst>
          </a:prstGeom>
          <a:solidFill>
            <a:srgbClr val="16213E">
              <a:alpha val="80000"/>
            </a:srgbClr>
          </a:solidFill>
          <a:ln w="10160">
            <a:solidFill>
              <a:srgbClr val="A05B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6135624"/>
            <a:ext cx="10872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An f-string is a Mad Libs template — you write the sentence with blanks, Python fills them in at runtime.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Working 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15568"/>
            <a:ext cx="7589520" cy="5074920"/>
          </a:xfrm>
          <a:prstGeom prst="roundRect">
            <a:avLst>
              <a:gd name="adj" fmla="val 2162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188720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= [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4447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("What is the capital of France?", "paris"),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70078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700784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("Which planet is the largest in our solar system?", "jupiter"),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195681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195681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("Which programming language is named after a snake?", "python"),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212848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212848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2491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7249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98094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23697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23697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question, answer in questions: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3493008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3493008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user_input = input(question + ' ')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3749040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cleaned = user_input.strip().lower()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00507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400507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cleaned == answer: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26110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4261104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print("Correct!")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51713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451713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 += 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773168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4773168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02920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4128" y="5029200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print(f"Wrong. The correct answer was '{answer}'.")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528523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554126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24128" y="5541264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print(f"\nFinal score: {score}/{len(questions)}")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29600" y="2743200"/>
            <a:ext cx="3520440" cy="713232"/>
          </a:xfrm>
          <a:prstGeom prst="roundRect">
            <a:avLst>
              <a:gd name="adj" fmla="val 1538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339328" y="279806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Init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39328" y="3072384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starts at 0 before the loop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65008" y="2944368"/>
            <a:ext cx="164592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3767328"/>
            <a:ext cx="3520440" cy="713232"/>
          </a:xfrm>
          <a:prstGeom prst="roundRect">
            <a:avLst>
              <a:gd name="adj" fmla="val 1538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339328" y="3822192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39328" y="4096512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.strip().lower() normalises every answer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65008" y="3968496"/>
            <a:ext cx="164592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0" y="4535424"/>
            <a:ext cx="3520440" cy="713232"/>
          </a:xfrm>
          <a:prstGeom prst="roundRect">
            <a:avLst>
              <a:gd name="adj" fmla="val 1538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339328" y="459028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Update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39328" y="4864608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+= 1 only when cleaned == answer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65008" y="4736592"/>
            <a:ext cx="164592" cy="0"/>
          </a:xfrm>
          <a:prstGeom prst="line">
            <a:avLst/>
          </a:prstGeom>
          <a:noFill/>
          <a:ln w="12700">
            <a:solidFill>
              <a:srgbClr val="5B8C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DEFENSIVE CODING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Handling Bad Input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1556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when a student hits Enter without typing anything? Defensive code handles it gracefully without crashing.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713232"/>
          </a:xfrm>
          <a:prstGeom prst="roundRect">
            <a:avLst>
              <a:gd name="adj" fmla="val 1538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847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 (empty — just Enter)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847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strip() -&gt; '' -&gt; does not match answer -&gt; Wrong (safe)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1274552" cy="713232"/>
          </a:xfrm>
          <a:prstGeom prst="roundRect">
            <a:avLst>
              <a:gd name="adj" fmla="val 1538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7157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7157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  '  (only spaces)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7157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strip() -&gt; '' -&gt; same as empty -&gt; Wrong (safe)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1274552" cy="713232"/>
          </a:xfrm>
          <a:prstGeom prst="roundRect">
            <a:avLst>
              <a:gd name="adj" fmla="val 15385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5844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584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 (not possible via input())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58444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input() always returns a string — no TypeError risk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11274552" cy="1481328"/>
          </a:xfrm>
          <a:prstGeom prst="roundRect">
            <a:avLst>
              <a:gd name="adj" fmla="val 7407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4572000"/>
            <a:ext cx="1094536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 = input(question + " 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user_input.strip() == "":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answer entered — marked as incorrect.")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cleaned = user_input.strip().lower()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cleaned == answer: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print("Correct!")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 += 1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print(f"Wrong. The correct answer was '{answer}'.")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Mistakes &amp; Debug Tips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5559552" cy="2212848"/>
          </a:xfrm>
          <a:prstGeom prst="roundRect">
            <a:avLst>
              <a:gd name="adj" fmla="val 4959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61872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 Forgetting .strip()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340096" cy="502920"/>
          </a:xfrm>
          <a:prstGeom prst="roundRect">
            <a:avLst>
              <a:gd name="adj" fmla="val 21818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700784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user_input == "paris":  # fails on " paris 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21992"/>
            <a:ext cx="5285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Use: if user_input.strip().lower() == "paris":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5285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Invisible whitespace is the silent killer. Always strip before compare.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170432"/>
            <a:ext cx="5559552" cy="2212848"/>
          </a:xfrm>
          <a:prstGeom prst="roundRect">
            <a:avLst>
              <a:gd name="adj" fmla="val 4959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36792" y="1261872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 Comparing before .lower()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5340096" cy="502920"/>
          </a:xfrm>
          <a:prstGeom prst="roundRect">
            <a:avLst>
              <a:gd name="adj" fmla="val 21818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700784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user_input.strip() == "paris":  # fails on "Paris"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36792" y="2221992"/>
            <a:ext cx="5285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Apply .lower() after .strip(), then compare.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36792" y="2651760"/>
            <a:ext cx="5285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differences cause false negatives. Lower everything, then check.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5559552" cy="2212848"/>
          </a:xfrm>
          <a:prstGeom prst="roundRect">
            <a:avLst>
              <a:gd name="adj" fmla="val 4959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639312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 score = 0 inside the loop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4023360"/>
            <a:ext cx="5340096" cy="502920"/>
          </a:xfrm>
          <a:prstGeom prst="roundRect">
            <a:avLst>
              <a:gd name="adj" fmla="val 21818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4078224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q, a in questions: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0  # resets every iteration!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599432"/>
            <a:ext cx="5285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Move score = 0 to BEFORE the for loop.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5029200"/>
            <a:ext cx="5285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must survive loop iterations. Initialise outside, update inside.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9632" y="3547872"/>
            <a:ext cx="5559552" cy="2212848"/>
          </a:xfrm>
          <a:prstGeom prst="roundRect">
            <a:avLst>
              <a:gd name="adj" fmla="val 4959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36792" y="3639312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 Wrong f-string syntax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4023360"/>
            <a:ext cx="5340096" cy="502920"/>
          </a:xfrm>
          <a:prstGeom prst="roundRect">
            <a:avLst>
              <a:gd name="adj" fmla="val 21818"/>
            </a:avLst>
          </a:prstGeom>
          <a:solidFill>
            <a:srgbClr val="111827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078224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"Score: " + score  # TypeError: can only concatenate str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36792" y="4599432"/>
            <a:ext cx="5285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Use: f"Score: {score}"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6792" y="5029200"/>
            <a:ext cx="5285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concatenate int + str. Use f-strings for clean embedding.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WORLD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This Logic Actually Runs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566160" cy="1719072"/>
          </a:xfrm>
          <a:prstGeom prst="roundRect">
            <a:avLst>
              <a:gd name="adj" fmla="val 638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Forms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answers, checks against correct responses, scores instantly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1188720"/>
            <a:ext cx="3566160" cy="1719072"/>
          </a:xfrm>
          <a:prstGeom prst="roundRect">
            <a:avLst>
              <a:gd name="adj" fmla="val 638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70832" y="12984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62272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Kahoot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62272" y="21214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Compares player's choice with stored answer key, tracks per-player score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84464" y="1188720"/>
            <a:ext cx="3566160" cy="1719072"/>
          </a:xfrm>
          <a:prstGeom prst="roundRect">
            <a:avLst>
              <a:gd name="adj" fmla="val 638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84464" y="12984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75904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HackerRank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75904" y="21214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code output, strips and compares against expected string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566160" cy="1719072"/>
          </a:xfrm>
          <a:prstGeom prst="roundRect">
            <a:avLst>
              <a:gd name="adj" fmla="val 638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2186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Classroom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Short-answer grading uses exact-match or keyword-match on student input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70832" y="3108960"/>
            <a:ext cx="3566160" cy="1719072"/>
          </a:xfrm>
          <a:prstGeom prst="roundRect">
            <a:avLst>
              <a:gd name="adj" fmla="val 638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32186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🏧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462272" y="3703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ATM PIN Check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62272" y="40416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Compares entered PIN (normalised) against stored hash — same if/else gate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102352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input-compare-score loop you've seen in an app uses a variation of exactly what you just built.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6080760"/>
            <a:ext cx="11274552" cy="438912"/>
          </a:xfrm>
          <a:prstGeom prst="roundRect">
            <a:avLst>
              <a:gd name="adj" fmla="val 16667"/>
            </a:avLst>
          </a:prstGeom>
          <a:solidFill>
            <a:srgbClr val="16213E">
              <a:alpha val="80000"/>
            </a:srgbClr>
          </a:solidFill>
          <a:ln w="10160">
            <a:solidFill>
              <a:srgbClr val="A05B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135624"/>
            <a:ext cx="10872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Your 20-line quiz is the same engine that powers million-user platforms — scaled with databases and APIs, but the logic is identical.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Exercises &amp; Mini Quiz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70432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618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4th Question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08760" y="221284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545336" y="224942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4th tuple to questions: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("What is H2O?", "water")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score shows x/4.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1170432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2618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07992" y="1783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 Again Loop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2392" y="221284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5458968" y="224942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07992" y="2606040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 the quiz in a while loop.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score, ask: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"Play again? (yes/no)"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if yes, exit if no.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84464" y="1170432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21624" y="12618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05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21624" y="1783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Hint System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36024" y="221284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224942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21624" y="2606040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wrong answer, offer a hint: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"Hint: starts with 'p'. Try again?"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one re-attempt per question.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45152"/>
            <a:ext cx="11274552" cy="987552"/>
          </a:xfrm>
          <a:prstGeom prst="roundRect">
            <a:avLst>
              <a:gd name="adj" fmla="val 11111"/>
            </a:avLst>
          </a:prstGeom>
          <a:solidFill>
            <a:srgbClr val="131929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709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4709160"/>
            <a:ext cx="9171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What does .strip() remove?   2. Where must score = 0 appear?   3. What does the f prefix do?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Answers: 1) leading/trailing whitespace  2) before the for loop  3) enables variable embedding in strings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601968"/>
            <a:ext cx="10817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· Batch 2026 · Project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Recap &amp; 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74552" cy="16459"/>
          </a:xfrm>
          <a:prstGeom prst="rect">
            <a:avLst/>
          </a:prstGeom>
          <a:solidFill>
            <a:srgbClr val="5B8CFF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15568"/>
            <a:ext cx="5989320" cy="3794760"/>
          </a:xfrm>
          <a:prstGeom prst="roundRect">
            <a:avLst>
              <a:gd name="adj" fmla="val 2892"/>
            </a:avLst>
          </a:prstGeom>
          <a:solidFill>
            <a:srgbClr val="1A1E2E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07008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 — Project 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56692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input() captures raw text — always sanitize before comparing</a:t>
            </a:r>
            <a:endParaRPr lang="en-US" sz="1600" dirty="0"/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.strip().lower() is your defensive pair — apply on every string input</a:t>
            </a:r>
            <a:endParaRPr lang="en-US" sz="1600" dirty="0"/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= 0 outside the loop; score += 1 inside, only on correct</a:t>
            </a:r>
            <a:endParaRPr lang="en-US" sz="1600" dirty="0"/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if/else gives programs the ability to make decisions</a:t>
            </a:r>
            <a:endParaRPr lang="en-US" sz="1600" dirty="0"/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f-strings embed variables cleanly — ditch string concatenation</a:t>
            </a:r>
            <a:endParaRPr lang="en-US" sz="1600" dirty="0"/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 Block pattern scales: 3 questions or 300, same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20840" y="1115568"/>
            <a:ext cx="5029200" cy="3794760"/>
          </a:xfrm>
          <a:prstGeom prst="roundRect">
            <a:avLst>
              <a:gd name="adj" fmla="val 2892"/>
            </a:avLst>
          </a:prstGeom>
          <a:solidFill>
            <a:srgbClr val="1E1B4B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2070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5 Preview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1627632"/>
            <a:ext cx="47091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 — wrap Question Block into def ask_question()</a:t>
            </a:r>
            <a:endParaRPr lang="en-US" sz="1600" dirty="0"/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 &amp; loops — dynamic question sets from a file</a:t>
            </a:r>
            <a:endParaRPr lang="en-US" sz="1600" dirty="0"/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/ except — handle non-string inputs properly</a:t>
            </a:r>
            <a:endParaRPr lang="en-US" sz="1600" dirty="0"/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Dictionaries — store question, answer, category together</a:t>
            </a:r>
            <a:endParaRPr lang="en-US" sz="1600" dirty="0"/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C8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Randomisation — shuffle with random.shuffle()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5074920"/>
            <a:ext cx="11274552" cy="685800"/>
          </a:xfrm>
          <a:prstGeom prst="roundRect">
            <a:avLst>
              <a:gd name="adj" fmla="val 16000"/>
            </a:avLst>
          </a:prstGeom>
          <a:solidFill>
            <a:srgbClr val="131929">
              <a:alpha val="80000"/>
            </a:srgbClr>
          </a:solidFill>
          <a:ln w="6350">
            <a:solidFill>
              <a:srgbClr val="5B8C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5148072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now have a working, production-pattern quiz engine in Python. Every concept here is reused directly in Project 5.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05BFF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01968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DecodeLabs  ·  Batch 2026  ·  Project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– Industrial Training Kit – Project 4</dc:title>
  <dc:subject>Python GK Quiz Training Deck</dc:subject>
  <dc:creator>DecodeLabs</dc:creator>
  <cp:lastModifiedBy>DecodeLabs</cp:lastModifiedBy>
  <cp:revision>1</cp:revision>
  <dcterms:created xsi:type="dcterms:W3CDTF">2026-07-17T21:05:08Z</dcterms:created>
  <dcterms:modified xsi:type="dcterms:W3CDTF">2026-07-17T21:05:08Z</dcterms:modified>
</cp:coreProperties>
</file>